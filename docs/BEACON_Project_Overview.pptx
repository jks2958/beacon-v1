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Say: BEACON is our malware detector that doesn't just say 'malicious' -- it tells you why, using both network traffic and computer memory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weaknesses in existing tools: they don't explain themselves, and most only look at one type of evidence. Both of these are the actual reasons this project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it as three steps every time: figure out WHAT it is (one of 9 families), explain WHY it thinks that, and say HOW urgent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clear about what we did NOT try to do is as important as what we did -- it shows the scope was a decision, not a gap we didn't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'what do they actually want from us' -- it's not really about malware, it's about whether we can be trusted with messy data and honest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this is a REAL dataset, not a toy one -- and that it came recommended by our supervisor specifically, from a legitimate academic research center at York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the bottom box -- it's a real engineering lesson: training and prediction must use identical code, or you get silent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great example of the project's honesty theme: our first-draft report assumed fusion was impossible. We actually built it, tested it, and it made things WORSE. So we kept the streams separate for a measured reason, not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a simplified version of what the real dashboard shows. Blue bars push TOWARD the answer, red bars push AWAY -- an analyst can see the actual reasoning, not just a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just say 99%! Explain WHY there are two numbers. This is one of the most important honesty points in the whole project -- a single number here would be misleading.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stream is lower. Don't be defensive about it -- say plainly it's lower, then bridge to the next slide where we PROVE we investigated why, rather than just accepting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for showing supervisors real engineering maturity: we didn't just stop at 59%, we PROVED there was nothing left to gain with five separate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screenshots of our actual running app, not mockups. Point out the risk chip, the confidence meter, and the SHAP bars on the right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too -- there's real stuff left. That's normal and expected at this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theme: the interesting part of this project isn't that the numbers are high, it's that every number is true and explained.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8229600" cy="8229600"/>
          </a:xfrm>
          <a:prstGeom prst="ellipse">
            <a:avLst/>
          </a:prstGeom>
          <a:solidFill>
            <a:srgbClr val="161F3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32" y="894512"/>
            <a:ext cx="634136" cy="634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3317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BEACON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Explainable AI for Cyber Operations Network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434840"/>
            <a:ext cx="8778240" cy="182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892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final-year project on malware detection that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 own reasoning</a:t>
            </a:r>
            <a:pPr indent="0" marL="0">
              <a:buNone/>
            </a:pPr>
            <a:r>
              <a:rPr lang="en-US" sz="14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across network and memory evidence.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Fellow Project Group  ·  Iqra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malware tools fall short in two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181448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14600"/>
            <a:ext cx="777240" cy="77724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487" y="2619527"/>
            <a:ext cx="567385" cy="5673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5204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explanation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023360"/>
            <a:ext cx="444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tool says “malicious, 94% confidence” and stops there. An analyst still has to manually dig through the file to check if that's even right — which takes time you don't have during a real incident.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2148840"/>
            <a:ext cx="5181448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7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0208" y="2514600"/>
            <a:ext cx="777240" cy="77724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135" y="2619527"/>
            <a:ext cx="567385" cy="5673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90208" y="35204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 blindness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90208" y="4023360"/>
            <a:ext cx="444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check only ONE kind of evidence — just network traffic, or just what's happening in memory. A real infection leaves footprints in both places, so checking only one means missing things.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is built to fix </a:t>
            </a:r>
            <a:pPr indent="0" marL="0">
              <a:buNone/>
            </a:pPr>
            <a:r>
              <a:rPr lang="en-US" sz="1300" b="1" i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together</a:t>
            </a:r>
            <a:pPr indent="0" marL="0">
              <a:buNone/>
            </a:pPr>
            <a:r>
              <a:rPr lang="en-US" sz="1300" i="1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as an afterthought, but as the whole point of the design.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BEACON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security guard that shows its reasoning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sample's behavior — network traffic or a memory snapshot — and BEACON does three things: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0509" y="2743200"/>
            <a:ext cx="914400" cy="91440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953" y="2866644"/>
            <a:ext cx="667512" cy="6675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34869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97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84048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2976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9 malware families is this — or is it benign?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3938" y="23317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8648" y="2743200"/>
            <a:ext cx="914400" cy="91440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092" y="2866644"/>
            <a:ext cx="667512" cy="6675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330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97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703978" y="384048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703978" y="42976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behaviors made it decide that, in plain terms.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2077" y="23317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36786" y="2743200"/>
            <a:ext cx="914400" cy="91440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230" y="2866644"/>
            <a:ext cx="667512" cy="6675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93114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97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384048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the risk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429768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High, Medium, or Low — so an analyst knows what to check first.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5943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binary “malicious / not” call — a specific, explained, risk-rated verdict.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 — and deliberately doesn't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181448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548640" cy="548640"/>
          </a:xfrm>
          <a:prstGeom prst="ellipse">
            <a:avLst/>
          </a:prstGeom>
          <a:solidFill>
            <a:srgbClr val="E4F5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" y="2542946"/>
            <a:ext cx="400507" cy="4005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532888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200400"/>
            <a:ext cx="454136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9-class malware classification (8 families + benign)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evidence streams: network flow &amp; memory dump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SHAP-based explanation attached to every verdict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testable Streamlit dashboard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measured evaluation — including negative results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2148840"/>
            <a:ext cx="5181448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468880"/>
            <a:ext cx="548640" cy="548640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54" y="254294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532888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out of scope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44488" y="3200400"/>
            <a:ext cx="454136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live traffic capture (works on exported CSVs)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both streams into one combined verdict — tested, found worse, deliberately dropped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deployment or multi-user accounts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prediction history across sessions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✗"/>
            </a:pPr>
            <a:r>
              <a:rPr lang="en-US" sz="13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malware detection — this is applied ML + XAI engineering, not new theory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SUPERVISORS EXPECT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is a vehicle for specific skills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181448" cy="4023360"/>
          </a:xfrm>
          <a:prstGeom prst="roundRect">
            <a:avLst>
              <a:gd name="adj" fmla="val 2727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23160"/>
            <a:ext cx="548640" cy="548640"/>
          </a:xfrm>
          <a:prstGeom prst="ellipse">
            <a:avLst/>
          </a:prstGeom>
          <a:solidFill>
            <a:srgbClr val="1C2A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" y="2497226"/>
            <a:ext cx="400507" cy="4005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871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being graded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08960"/>
            <a:ext cx="4541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clean and use a genuinely messy, real dataset?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design choices backed by evidence, not guesses?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understand your OWN system's limits?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working software — not just slides?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2103120"/>
            <a:ext cx="5181448" cy="4023360"/>
          </a:xfrm>
          <a:prstGeom prst="roundRect">
            <a:avLst>
              <a:gd name="adj" fmla="val 2727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44488" y="2423160"/>
            <a:ext cx="548640" cy="548640"/>
          </a:xfrm>
          <a:prstGeom prst="ellipse">
            <a:avLst/>
          </a:prstGeom>
          <a:solidFill>
            <a:srgbClr val="1C2A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54" y="249722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4871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we're building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44488" y="3108960"/>
            <a:ext cx="4541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Imbalanced, real-world data handling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— the point, not a bonus feature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— spotting a number that lies</a:t>
            </a:r>
            <a:endParaRPr lang="en-US" sz="1300" dirty="0"/>
          </a:p>
          <a:p>
            <a:pPr marL="342900" indent="-342900">
              <a:lnSpc>
                <a:spcPct val="13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 real ceiling vs. giving up early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BCCC-Mal-NetMem-2025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York University's Behaviour-Centric Cybersecurity Center — </a:t>
            </a:r>
            <a:pPr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 us by our supervisor.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4992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4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64992"/>
            <a:ext cx="2224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malware families + benign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9404" y="2286000"/>
            <a:ext cx="24992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4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96564" y="2450592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96564" y="306324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96564" y="3364992"/>
            <a:ext cx="2224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  +  memory dump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2286000"/>
            <a:ext cx="24992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4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70168" y="2450592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70168" y="306324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CAPTURES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0168" y="3364992"/>
            <a:ext cx="2224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 raw features per flow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611" y="2286000"/>
            <a:ext cx="24992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4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3771" y="2450592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5,731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143771" y="306324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SAMPLES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3771" y="3364992"/>
            <a:ext cx="2224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raw features per dump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CATEGORIES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754880"/>
            <a:ext cx="903427" cy="40233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754880"/>
            <a:ext cx="9034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53819" y="4754880"/>
            <a:ext cx="1100938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753819" y="47548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9349" y="4754880"/>
            <a:ext cx="1002182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19349" y="4754880"/>
            <a:ext cx="1002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86123" y="4754880"/>
            <a:ext cx="1100938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86123" y="47548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HackTool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51653" y="4754880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51653" y="4754880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2162" y="4754880"/>
            <a:ext cx="1002182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2162" y="4754880"/>
            <a:ext cx="1002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88936" y="4754880"/>
            <a:ext cx="903427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88936" y="4754880"/>
            <a:ext cx="9034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56955" y="47548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56955" y="475488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26219" y="4754880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E5EE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526219" y="4754880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943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raw file needed cleaning: duplicate rows, a labeling inconsistency, and severe class imbalance in one category.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 to explained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65860" y="2766060"/>
            <a:ext cx="9859975" cy="0"/>
          </a:xfrm>
          <a:prstGeom prst="line">
            <a:avLst/>
          </a:prstGeom>
          <a:noFill/>
          <a:ln w="25400">
            <a:solidFill>
              <a:srgbClr val="DCE4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85337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53" y="2415616"/>
            <a:ext cx="700888" cy="700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5337" y="2286000"/>
            <a:ext cx="960120" cy="960120"/>
          </a:xfrm>
          <a:prstGeom prst="ellipse">
            <a:avLst/>
          </a:prstGeom>
          <a:ln w="22225">
            <a:solidFill>
              <a:srgbClr val="3987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52849" y="2231136"/>
            <a:ext cx="365760" cy="365760"/>
          </a:xfrm>
          <a:prstGeom prst="ellipse">
            <a:avLst/>
          </a:prstGeom>
          <a:solidFill>
            <a:srgbClr val="3987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447288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813048"/>
            <a:ext cx="18128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CSV of network flow or memory-dump features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00562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178" y="2415616"/>
            <a:ext cx="700888" cy="700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00562" y="2286000"/>
            <a:ext cx="960120" cy="960120"/>
          </a:xfrm>
          <a:prstGeom prst="ellipse">
            <a:avLst/>
          </a:prstGeom>
          <a:ln w="22225">
            <a:solidFill>
              <a:srgbClr val="3987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068074" y="2231136"/>
            <a:ext cx="365760" cy="365760"/>
          </a:xfrm>
          <a:prstGeom prst="ellipse">
            <a:avLst/>
          </a:prstGeom>
          <a:solidFill>
            <a:srgbClr val="3987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901025" y="3447288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2974177" y="3813048"/>
            <a:ext cx="18128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duplicates, missing values, scale features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15788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404" y="2415616"/>
            <a:ext cx="700888" cy="7008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15788" y="2286000"/>
            <a:ext cx="960120" cy="960120"/>
          </a:xfrm>
          <a:prstGeom prst="ellipse">
            <a:avLst/>
          </a:prstGeom>
          <a:ln w="22225">
            <a:solidFill>
              <a:srgbClr val="3987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83300" y="2231136"/>
            <a:ext cx="365760" cy="365760"/>
          </a:xfrm>
          <a:prstGeom prst="ellipse">
            <a:avLst/>
          </a:prstGeom>
          <a:solidFill>
            <a:srgbClr val="3987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116251" y="3447288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5189403" y="3813048"/>
            <a:ext cx="18128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(XGBoost) picks one of 9 categories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31013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629" y="2415616"/>
            <a:ext cx="700888" cy="7008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31013" y="2286000"/>
            <a:ext cx="960120" cy="960120"/>
          </a:xfrm>
          <a:prstGeom prst="ellipse">
            <a:avLst/>
          </a:prstGeom>
          <a:ln w="22225">
            <a:solidFill>
              <a:srgbClr val="3987E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498525" y="2231136"/>
            <a:ext cx="365760" cy="365760"/>
          </a:xfrm>
          <a:prstGeom prst="ellipse">
            <a:avLst/>
          </a:prstGeom>
          <a:solidFill>
            <a:srgbClr val="3987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331476" y="3447288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7404628" y="3813048"/>
            <a:ext cx="18128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identifies which features drove the decision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10046238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855" y="2415616"/>
            <a:ext cx="700888" cy="70088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046238" y="2286000"/>
            <a:ext cx="960120" cy="960120"/>
          </a:xfrm>
          <a:prstGeom prst="ellipse">
            <a:avLst/>
          </a:prstGeom>
          <a:ln w="22225">
            <a:solidFill>
              <a:srgbClr val="3987E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713750" y="2231136"/>
            <a:ext cx="365760" cy="365760"/>
          </a:xfrm>
          <a:prstGeom prst="ellipse">
            <a:avLst/>
          </a:prstGeom>
          <a:solidFill>
            <a:srgbClr val="3987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546702" y="3447288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450" dirty="0"/>
          </a:p>
        </p:txBody>
      </p:sp>
      <p:sp>
        <p:nvSpPr>
          <p:cNvPr id="34" name="Text 27"/>
          <p:cNvSpPr txBox="1"/>
          <p:nvPr/>
        </p:nvSpPr>
        <p:spPr>
          <a:xfrm>
            <a:off x="9619854" y="3813048"/>
            <a:ext cx="18128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confidence, risk, and reasoning on screen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85800" y="5349240"/>
            <a:ext cx="10820095" cy="868680"/>
          </a:xfrm>
          <a:prstGeom prst="roundRect">
            <a:avLst>
              <a:gd name="adj" fmla="val 10526"/>
            </a:avLst>
          </a:prstGeom>
          <a:solidFill>
            <a:srgbClr val="E5EEFC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960120" y="53492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rule: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cleaning code runs at training time AND when you upload a file later — so the dashboard can never silently drift from how the model was actually trained.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classifiers — tested, not assumed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1814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685800" cy="68580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23" y="2332863"/>
            <a:ext cx="500634" cy="5006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304288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stream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5468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traffic behavior — packet timing, byte rates, connection patterns.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1814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240280"/>
            <a:ext cx="685800" cy="68580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071" y="2332863"/>
            <a:ext cx="500634" cy="5006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13168" y="2304288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stream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44488" y="315468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what's happening inside a running computer's memory.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617720"/>
            <a:ext cx="10820095" cy="1965960"/>
          </a:xfrm>
          <a:prstGeom prst="roundRect">
            <a:avLst>
              <a:gd name="adj" fmla="val 5581"/>
            </a:avLst>
          </a:prstGeom>
          <a:solidFill>
            <a:srgbClr val="0E1526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5840" y="4937760"/>
            <a:ext cx="640080" cy="640080"/>
          </a:xfrm>
          <a:prstGeom prst="ellipse">
            <a:avLst/>
          </a:prstGeom>
          <a:solidFill>
            <a:srgbClr val="1C2A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1" y="502417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892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combine them into one verdict?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330952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 and measured it.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both streams scored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worse than the network stream alone 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 we kept them separate — on evidence, not assumption.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verdict comes with its reasons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SHAP — a method that scores how much each feature pushed the decision toward, or away from, the final verdict.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12280" y="2176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VERDICT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2176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4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AWAY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packets_IAT_mode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2551176"/>
            <a:ext cx="1476756" cy="219456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median_fwd_packets_delta_time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3008376"/>
            <a:ext cx="1077163" cy="219456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383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3465576"/>
            <a:ext cx="712318" cy="219456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handshake_duration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3922776"/>
            <a:ext cx="521208" cy="219456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297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total_header_bytes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0138" y="4379976"/>
            <a:ext cx="590702" cy="219456"/>
          </a:xfrm>
          <a:prstGeom prst="roundRect">
            <a:avLst>
              <a:gd name="adj" fmla="val 16667"/>
            </a:avLst>
          </a:prstGeom>
          <a:solidFill>
            <a:srgbClr val="D14B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754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packets_count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86907" y="4837176"/>
            <a:ext cx="833933" cy="219456"/>
          </a:xfrm>
          <a:prstGeom prst="roundRect">
            <a:avLst>
              <a:gd name="adj" fmla="val 16667"/>
            </a:avLst>
          </a:prstGeom>
          <a:solidFill>
            <a:srgbClr val="D14B4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2377440"/>
            <a:ext cx="0" cy="274320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349240"/>
            <a:ext cx="10820095" cy="777240"/>
          </a:xfrm>
          <a:prstGeom prst="roundRect">
            <a:avLst>
              <a:gd name="adj" fmla="val 11765"/>
            </a:avLst>
          </a:prstGeom>
          <a:solidFill>
            <a:srgbClr val="E5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3492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was flagged as Backdoor mainly because of unusual packet timing patterns and destination port — not because of a black-box guess.”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640080" cy="64008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11" y="635051"/>
            <a:ext cx="467258" cy="4672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NETWORK STREAM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34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numbers, not one flattering one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85800" y="2331720"/>
            <a:ext cx="5181448" cy="2606040"/>
          </a:xfrm>
          <a:prstGeom prst="roundRect">
            <a:avLst>
              <a:gd name="adj" fmla="val 4211"/>
            </a:avLst>
          </a:prstGeom>
          <a:solidFill>
            <a:srgbClr val="3987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260604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0332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CAPTURE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114800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447 · combining ~hundreds of flows into one verdict per sample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4448" y="2331720"/>
            <a:ext cx="5181448" cy="2606040"/>
          </a:xfrm>
          <a:prstGeom prst="roundRect">
            <a:avLst>
              <a:gd name="adj" fmla="val 4211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90208" y="260604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68.2%</a:t>
            </a:r>
            <a:endParaRPr lang="en-US" sz="5200" dirty="0"/>
          </a:p>
        </p:txBody>
      </p:sp>
      <p:sp>
        <p:nvSpPr>
          <p:cNvPr id="12" name="Text 9"/>
          <p:cNvSpPr txBox="1"/>
          <p:nvPr/>
        </p:nvSpPr>
        <p:spPr>
          <a:xfrm>
            <a:off x="6690208" y="370332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FLOW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90208" y="4114800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129,118 · judging a single flow in isolation — the harder task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13892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report both?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is hundreds of flows from ONE sample. Averaging them is how the system is actually used, and errors cancel out — but quoting only the 99.1% without saying so would overstate what the model does.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640080" cy="64008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11" y="635051"/>
            <a:ext cx="467258" cy="4672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MEMORY STREAM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34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Lower, and reported exactly as measured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85800" y="2286000"/>
            <a:ext cx="4206240" cy="2468880"/>
          </a:xfrm>
          <a:prstGeom prst="roundRect">
            <a:avLst>
              <a:gd name="adj" fmla="val 4444"/>
            </a:avLst>
          </a:prstGeom>
          <a:solidFill>
            <a:srgbClr val="3987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2514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59.2%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·  9-CLASS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1,836 held-out samples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20640" y="2286000"/>
            <a:ext cx="6385255" cy="2468880"/>
          </a:xfrm>
          <a:prstGeom prst="roundRect">
            <a:avLst>
              <a:gd name="adj" fmla="val 4444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0680" y="2487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families separate cleanly — others genuinely don't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3063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· Hoax · HackTool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81160" y="3118104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E3D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81160" y="31181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cleanly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· Rootkit · Trojan · Virus · Worm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81160" y="3803904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3D1F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281160" y="3803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confused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4434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families simply don't leave distinguishable footprints in process/handle/DLL counts alone.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029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bug we missed — it's investigated in depth on the next slide.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LIMITATIONS ARE THERE ON PURPOSE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investigated the 59% — five different ways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was actually tried and measured. None recovered meaningful accuracy — which is itself the finding.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03704"/>
            <a:ext cx="347472" cy="347472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589" y="2250613"/>
            <a:ext cx="253655" cy="2536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148840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extra rows barely moved the score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715768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770632"/>
            <a:ext cx="347472" cy="347472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89" y="2817541"/>
            <a:ext cx="253655" cy="2536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715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hyperparameter search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271576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trials did not beat the original 20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5800" y="3282696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337560"/>
            <a:ext cx="347472" cy="347472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89" y="3384469"/>
            <a:ext cx="253655" cy="25365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2826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different ML models tested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282696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landed within noise of each other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5800" y="3849624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904488"/>
            <a:ext cx="347472" cy="347472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89" y="3951397"/>
            <a:ext cx="253655" cy="25365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38496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architecture (benign vs. family)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3849624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— confusion isn't a staging problem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85800" y="4416552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71416"/>
            <a:ext cx="347472" cy="347472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89" y="4518325"/>
            <a:ext cx="253655" cy="25365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4416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/ task reframing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6355080" y="4416552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gain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85800" y="5120640"/>
            <a:ext cx="10820095" cy="868680"/>
          </a:xfrm>
          <a:prstGeom prst="roundRect">
            <a:avLst>
              <a:gd name="adj" fmla="val 10526"/>
            </a:avLst>
          </a:prstGeom>
          <a:solidFill>
            <a:srgbClr val="0E1526"/>
          </a:solidFill>
          <a:ln/>
        </p:spPr>
      </p:sp>
      <p:sp>
        <p:nvSpPr>
          <p:cNvPr id="31" name="Shape 24"/>
          <p:cNvSpPr/>
          <p:nvPr/>
        </p:nvSpPr>
        <p:spPr>
          <a:xfrm>
            <a:off x="960120" y="5303520"/>
            <a:ext cx="502920" cy="50292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014" y="5371414"/>
            <a:ext cx="367132" cy="3671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691640" y="512064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is in the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model. A defensible, evidenced finding — not a failure to tune harder.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product, not a notebook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989320" cy="4270248"/>
          </a:xfrm>
          <a:prstGeom prst="roundRect">
            <a:avLst>
              <a:gd name="adj" fmla="val 1285"/>
            </a:avLst>
          </a:prstGeom>
          <a:solidFill>
            <a:srgbClr val="1D2333"/>
          </a:solidFill>
          <a:ln/>
          <a:effectLst>
            <a:outerShdw sx="100000" sy="100000" kx="0" ky="0" algn="bl" rotWithShape="0" blurRad="177800" dist="50800" dir="5400000">
              <a:srgbClr val="1B274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57400"/>
            <a:ext cx="91440" cy="91440"/>
          </a:xfrm>
          <a:prstGeom prst="ellipse">
            <a:avLst/>
          </a:prstGeom>
          <a:solidFill>
            <a:srgbClr val="D14B4E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2057400"/>
            <a:ext cx="91440" cy="91440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2057400"/>
            <a:ext cx="91440" cy="91440"/>
          </a:xfrm>
          <a:prstGeom prst="ellipse">
            <a:avLst/>
          </a:prstGeom>
          <a:solidFill>
            <a:srgbClr val="2E9E6E"/>
          </a:solidFill>
          <a:ln/>
        </p:spPr>
      </p:sp>
      <p:pic>
        <p:nvPicPr>
          <p:cNvPr id="8" name="Image 0" descr="/tmp/claude-0/-home-user-Northverse-Guest/12ad1342-9a80-594c-a316-51d7cd7403dc/scratchpad/deck/shot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258568"/>
            <a:ext cx="5879592" cy="39227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1965960"/>
            <a:ext cx="4526280" cy="4270248"/>
          </a:xfrm>
          <a:prstGeom prst="roundRect">
            <a:avLst>
              <a:gd name="adj" fmla="val 1285"/>
            </a:avLst>
          </a:prstGeom>
          <a:solidFill>
            <a:srgbClr val="1D2333"/>
          </a:solidFill>
          <a:ln/>
          <a:effectLst>
            <a:outerShdw sx="100000" sy="100000" kx="0" ky="0" algn="bl" rotWithShape="0" blurRad="177800" dist="50800" dir="5400000">
              <a:srgbClr val="1B274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13448" y="2057400"/>
            <a:ext cx="91440" cy="91440"/>
          </a:xfrm>
          <a:prstGeom prst="ellipse">
            <a:avLst/>
          </a:prstGeom>
          <a:solidFill>
            <a:srgbClr val="D14B4E"/>
          </a:solidFill>
          <a:ln/>
        </p:spPr>
      </p:sp>
      <p:sp>
        <p:nvSpPr>
          <p:cNvPr id="11" name="Shape 8"/>
          <p:cNvSpPr/>
          <p:nvPr/>
        </p:nvSpPr>
        <p:spPr>
          <a:xfrm>
            <a:off x="7196328" y="2057400"/>
            <a:ext cx="91440" cy="91440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2" name="Shape 9"/>
          <p:cNvSpPr/>
          <p:nvPr/>
        </p:nvSpPr>
        <p:spPr>
          <a:xfrm>
            <a:off x="7379208" y="2057400"/>
            <a:ext cx="91440" cy="91440"/>
          </a:xfrm>
          <a:prstGeom prst="ellipse">
            <a:avLst/>
          </a:prstGeom>
          <a:solidFill>
            <a:srgbClr val="2E9E6E"/>
          </a:solidFill>
          <a:ln/>
        </p:spPr>
      </p:sp>
      <p:pic>
        <p:nvPicPr>
          <p:cNvPr id="13" name="Image 1" descr="/tmp/claude-0/-home-user-Northverse-Guest/12ad1342-9a80-594c-a316-51d7cd7403dc/scratchpad/deck/shot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258568"/>
            <a:ext cx="4416552" cy="39227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" y="605332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triage console — status of both models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6053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verdict → SHAP explanation, in one view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solid — and what's still ahead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181448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548640" cy="548640"/>
          </a:xfrm>
          <a:prstGeom prst="ellipse">
            <a:avLst/>
          </a:prstGeom>
          <a:solidFill>
            <a:srgbClr val="E4F5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" y="2405786"/>
            <a:ext cx="400507" cy="4005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39572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Done, and verified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17520"/>
            <a:ext cx="4541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on the real dataset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automated tests — run with zero raw data present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trains and predicts — no silent drift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tested end-to-end, both streams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traced to a real metrics file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2011680"/>
            <a:ext cx="5181448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74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331720"/>
            <a:ext cx="548640" cy="548640"/>
          </a:xfrm>
          <a:prstGeom prst="ellipse">
            <a:avLst/>
          </a:prstGeom>
          <a:solidFill>
            <a:srgbClr val="E5EE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54" y="24057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39572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ahead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44488" y="3017520"/>
            <a:ext cx="4541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 (Streamlit Community Cloud)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chapter revisions from these findings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prediction history (currently session-only)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future work: richer memory features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61F3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887" y="790727"/>
            <a:ext cx="567385" cy="5673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691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isn't enough. Explainable is the point.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2880360"/>
            <a:ext cx="3423818" cy="1417320"/>
          </a:xfrm>
          <a:prstGeom prst="roundRect">
            <a:avLst>
              <a:gd name="adj" fmla="val 6452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21608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per capture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21098" y="2880360"/>
            <a:ext cx="3423818" cy="1417320"/>
          </a:xfrm>
          <a:prstGeom prst="roundRect">
            <a:avLst>
              <a:gd name="adj" fmla="val 6452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1098" y="30175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521098" y="3721608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per flow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19237" y="2880360"/>
            <a:ext cx="3423818" cy="1417320"/>
          </a:xfrm>
          <a:prstGeom prst="roundRect">
            <a:avLst>
              <a:gd name="adj" fmla="val 6452"/>
            </a:avLst>
          </a:prstGeom>
          <a:solidFill>
            <a:srgbClr val="161F33"/>
          </a:solidFill>
          <a:ln w="12700">
            <a:solidFill>
              <a:srgbClr val="26335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9237" y="3017520"/>
            <a:ext cx="3423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19237" y="3721608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per sample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explained, independently-evaluated streams. Honest numbers, including the ones that 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flattering. A working dashboard behind every claim.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 — Behavioral Explainable AI for Cyber Operations Network</dc:title>
  <dc:subject>PptxGenJS Presentation</dc:subject>
  <dc:creator>BEACON Project</dc:creator>
  <cp:lastModifiedBy>BEACON Project</cp:lastModifiedBy>
  <cp:revision>1</cp:revision>
  <dcterms:created xsi:type="dcterms:W3CDTF">2026-09-10T23:28:09Z</dcterms:created>
  <dcterms:modified xsi:type="dcterms:W3CDTF">2026-09-10T23:28:09Z</dcterms:modified>
</cp:coreProperties>
</file>